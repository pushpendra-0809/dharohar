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BBF24"/>
                </a:solidFill>
                <a:latin typeface="Arial"/>
              </a:defRPr>
            </a:pPr>
            <a:r>
              <a:t>DHAROHAR 1.0</a:t>
            </a:r>
          </a:p>
          <a:p>
            <a:pPr>
              <a:spcBef>
                <a:spcPts val="10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t>System Use Case Diagram &amp; Actor Interaction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6289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Smart India Hackathon 2026 | Ministry of Culture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Concise Model: Primary Actors, System Boundary, 5 Core Use Cases, and Supporting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UML USE CASE DIAGRAM — CONCISE SYSTEM VIEW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Clean alignment between Primary User Actors, 5 Core Use Cases, and Supporting Subsystems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1097280"/>
            <a:ext cx="5059375" cy="5394960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0" y="1207008"/>
            <a:ext cx="4693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DHAROHAR 1.0 SYSTEM BOUNDARY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1600200"/>
            <a:ext cx="4327855" cy="777240"/>
          </a:xfrm>
          <a:prstGeom prst="ellipse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UC-01: Explore Virtual Nalanda</a:t>
            </a:r>
            <a:br/>
            <a:r>
              <a:t>(2D Walkthrough &amp; Landmark Discovery)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2606040"/>
            <a:ext cx="4327855" cy="777240"/>
          </a:xfrm>
          <a:prstGeom prst="ellipse">
            <a:avLst/>
          </a:prstGeom>
          <a:solidFill>
            <a:srgbClr val="D1FAE5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64E3B"/>
                </a:solidFill>
              </a:defRPr>
            </a:pPr>
            <a:r>
              <a:t>UC-02: Interact with Historical NPCs</a:t>
            </a:r>
            <a:br/>
            <a:r>
              <a:t>(Merchant, Silabhadra &amp; Faculty Quests)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3611880"/>
            <a:ext cx="4327855" cy="777240"/>
          </a:xfrm>
          <a:prstGeom prst="ellipse">
            <a:avLst/>
          </a:prstGeom>
          <a:solidFill>
            <a:srgbClr val="FEF3C7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78350F"/>
                </a:solidFill>
              </a:defRPr>
            </a:pPr>
            <a:r>
              <a:t>UC-03: Solve Vedic Domain Trials</a:t>
            </a:r>
            <a:br/>
            <a:r>
              <a:t>(Math, Astronomy, Ayurveda, Logic Puzzles)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4617720"/>
            <a:ext cx="4327855" cy="777240"/>
          </a:xfrm>
          <a:prstGeom prst="ellipse">
            <a:avLst/>
          </a:prstGeom>
          <a:solidFill>
            <a:srgbClr val="FCE7F3"/>
          </a:solidFill>
          <a:ln w="228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831843"/>
                </a:solidFill>
              </a:defRPr>
            </a:pPr>
            <a:r>
              <a:t>UC-04: Track Progress &amp; Sacred Scrolls</a:t>
            </a:r>
            <a:br/>
            <a:r>
              <a:t>(EXP, Levels, 3 Master Scrolls &amp; Badges)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5623560"/>
            <a:ext cx="4327855" cy="777240"/>
          </a:xfrm>
          <a:prstGeom prst="ellipse">
            <a:avLst/>
          </a:prstGeom>
          <a:solidFill>
            <a:srgbClr val="F3E8FF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581C87"/>
                </a:solidFill>
              </a:defRPr>
            </a:pPr>
            <a:r>
              <a:t>UC-05: Play Web Demo &amp; Download</a:t>
            </a:r>
            <a:br/>
            <a:r>
              <a:t>(WebAssembly Runtime &amp; Game Distribution)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45920"/>
            <a:ext cx="2651760" cy="1234440"/>
          </a:xfrm>
          <a:prstGeom prst="roundRect">
            <a:avLst/>
          </a:prstGeom>
          <a:solidFill>
            <a:srgbClr val="312E81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Student / Learner</a:t>
            </a:r>
          </a:p>
          <a:p>
            <a:pPr>
              <a:spcBef>
                <a:spcPts val="400"/>
              </a:spcBef>
              <a:defRPr sz="950">
                <a:solidFill>
                  <a:srgbClr val="C7D2FE"/>
                </a:solidFill>
              </a:defRPr>
            </a:pPr>
            <a:r>
              <a:t>Role: History &amp; Science Scholar</a:t>
            </a:r>
            <a:br/>
            <a:r>
              <a:t>Multiplicity: [1..*]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2651760" cy="1234440"/>
          </a:xfrm>
          <a:prstGeom prst="roundRect">
            <a:avLst/>
          </a:prstGeom>
          <a:solidFill>
            <a:srgbClr val="312E81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Teacher / Educator</a:t>
            </a:r>
          </a:p>
          <a:p>
            <a:pPr>
              <a:spcBef>
                <a:spcPts val="400"/>
              </a:spcBef>
              <a:defRPr sz="950">
                <a:solidFill>
                  <a:srgbClr val="C7D2FE"/>
                </a:solidFill>
              </a:defRPr>
            </a:pPr>
            <a:r>
              <a:t>Role: Curriculum Facilitator</a:t>
            </a:r>
            <a:br/>
            <a:r>
              <a:t>Multiplicity: [0..*]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2651760" cy="1234440"/>
          </a:xfrm>
          <a:prstGeom prst="roundRect">
            <a:avLst/>
          </a:prstGeom>
          <a:solidFill>
            <a:srgbClr val="312E81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Virtual Tourist</a:t>
            </a:r>
          </a:p>
          <a:p>
            <a:pPr>
              <a:spcBef>
                <a:spcPts val="400"/>
              </a:spcBef>
              <a:defRPr sz="950">
                <a:solidFill>
                  <a:srgbClr val="C7D2FE"/>
                </a:solidFill>
              </a:defRPr>
            </a:pPr>
            <a:r>
              <a:t>Role: Heritage Explorer</a:t>
            </a:r>
            <a:br/>
            <a:r>
              <a:t>Multiplicity: [0..*]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1295" y="1645920"/>
            <a:ext cx="2651760" cy="123444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Godot Game Engine</a:t>
            </a:r>
          </a:p>
          <a:p>
            <a:pPr>
              <a:spcBef>
                <a:spcPts val="400"/>
              </a:spcBef>
              <a:defRPr sz="950">
                <a:solidFill>
                  <a:srgbClr val="BAE6FD"/>
                </a:solidFill>
              </a:defRPr>
            </a:pPr>
            <a:r>
              <a:t>Role: Physics, Navigation &amp; Logic</a:t>
            </a:r>
            <a:br/>
            <a:r>
              <a:t>Multiplicity: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1295" y="3291840"/>
            <a:ext cx="2651760" cy="123444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Platform &amp; Cloud Save</a:t>
            </a:r>
          </a:p>
          <a:p>
            <a:pPr>
              <a:spcBef>
                <a:spcPts val="400"/>
              </a:spcBef>
              <a:defRPr sz="950">
                <a:solidFill>
                  <a:srgbClr val="BAE6FD"/>
                </a:solidFill>
              </a:defRPr>
            </a:pPr>
            <a:r>
              <a:t>Role: WebAssembly &amp; IndexedDB Sync</a:t>
            </a:r>
            <a:br/>
            <a:r>
              <a:t>Multiplicity: [1]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1295" y="4937760"/>
            <a:ext cx="2651760" cy="123444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Heritage Content Evaluator</a:t>
            </a:r>
          </a:p>
          <a:p>
            <a:pPr>
              <a:spcBef>
                <a:spcPts val="400"/>
              </a:spcBef>
              <a:defRPr sz="950">
                <a:solidFill>
                  <a:srgbClr val="BAE6FD"/>
                </a:solidFill>
              </a:defRPr>
            </a:pPr>
            <a:r>
              <a:t>Role: Historical Fact Verification</a:t>
            </a:r>
            <a:br/>
            <a:r>
              <a:t>Multiplicity: [0..*]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ACTOR &amp; USE CASE SPECIFICATION MATRIX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Concise mapping of actor roles, responsibilities, and system interactions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097280"/>
                <a:gridCol w="3657600"/>
                <a:gridCol w="286481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Actor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Multiplicity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Core Objective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Associated Use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Student / Learner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1..*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Explores Nalanda, passes admission, solves domain puzzles, tracks EXP.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UC-02, UC-03, UC-04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Teacher / Educator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0..*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Facilitates interactive history lessons and logical reasoning modules.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Virtual Tourist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0..*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Discovers 2D digital heritage, architecture, and cultural stories.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Godot Game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Executes physics, dialogue rendering, A* pathfinding, and puzzle mechanics.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UC-02, UC-03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Web Platform / Cloud 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Executes WebAssembly build, mirrors IndexedDB &amp; localStorage saves.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UC-04, UC-05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Heritage Content Evaluator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0..*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Verifies curriculum authenticity, historical facts, and learning metrics.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