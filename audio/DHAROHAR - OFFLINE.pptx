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57" r:id="rId3"/>
    <p:sldId id="258" r:id="rId4"/>
    <p:sldId id="260" r:id="rId5"/>
    <p:sldId id="292" r:id="rId6"/>
    <p:sldId id="256" r:id="rId7"/>
    <p:sldId id="261" r:id="rId8"/>
    <p:sldId id="293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B726B89-ED2F-4202-B0B3-B48C72F614AB}">
          <p14:sldIdLst>
            <p14:sldId id="291"/>
            <p14:sldId id="257"/>
            <p14:sldId id="258"/>
            <p14:sldId id="260"/>
            <p14:sldId id="292"/>
            <p14:sldId id="256"/>
            <p14:sldId id="261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460" y="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1.png"/><Relationship Id="rId7" Type="http://schemas.openxmlformats.org/officeDocument/2006/relationships/hyperlink" Target="https://www.bbc.com/travel/article/20230222-nalanda-the-university-that-changed-the-world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hc.unesco.org/en/list/1502/" TargetMode="External"/><Relationship Id="rId5" Type="http://schemas.openxmlformats.org/officeDocument/2006/relationships/hyperlink" Target="https://en.wikipedia.org/wiki/Nalanda_mahavihara" TargetMode="Externa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90438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942" y="2518096"/>
            <a:ext cx="8601714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26208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Heritage &amp; Culture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Prisha_ki_sena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ID–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04724" y="743057"/>
            <a:ext cx="7315200" cy="685658"/>
          </a:xfrm>
          <a:prstGeom prst="rect">
            <a:avLst/>
          </a:prstGeom>
        </p:spPr>
        <p:txBody>
          <a:bodyPr vert="horz" wrap="square" lIns="0" tIns="84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endParaRPr spc="11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pl-PL"/>
              <a:t>B</a:t>
            </a:r>
            <a:r>
              <a:rPr lang="pl-PL" spc="-160"/>
              <a:t> </a:t>
            </a:r>
            <a:r>
              <a:rPr lang="pl-PL" spc="-30"/>
              <a:t>U</a:t>
            </a:r>
            <a:r>
              <a:rPr lang="pl-PL" spc="-160"/>
              <a:t> </a:t>
            </a:r>
            <a:r>
              <a:rPr lang="pl-PL" spc="-420"/>
              <a:t>I</a:t>
            </a:r>
            <a:r>
              <a:rPr lang="pl-PL" spc="-160"/>
              <a:t> </a:t>
            </a:r>
            <a:r>
              <a:rPr lang="pl-PL" spc="-65"/>
              <a:t>L</a:t>
            </a:r>
            <a:r>
              <a:rPr lang="pl-PL" spc="-155"/>
              <a:t> </a:t>
            </a:r>
            <a:r>
              <a:rPr lang="pl-PL" spc="-50"/>
              <a:t>D</a:t>
            </a:r>
            <a:endParaRPr sz="1067" spc="-33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en-IN"/>
              <a:t>W</a:t>
            </a:r>
            <a:r>
              <a:rPr lang="en-IN" spc="-180"/>
              <a:t> </a:t>
            </a:r>
            <a:r>
              <a:rPr lang="en-IN" spc="-420"/>
              <a:t>I</a:t>
            </a:r>
            <a:r>
              <a:rPr lang="en-IN" spc="-150"/>
              <a:t> </a:t>
            </a:r>
            <a:r>
              <a:rPr lang="en-IN" spc="-145"/>
              <a:t>T </a:t>
            </a:r>
            <a:r>
              <a:rPr lang="en-IN" spc="-50"/>
              <a:t>H</a:t>
            </a:r>
            <a:endParaRPr sz="1067" spc="-33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6534A1-557F-0C09-F6C9-3535143BC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65" y="3300472"/>
            <a:ext cx="7857074" cy="14885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347ACC7-7433-FDF4-9F88-FF8FB293C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49911" y="5118586"/>
            <a:ext cx="915871" cy="793755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B7CD641-744B-49EF-FDD6-21CBEBF2AD01}"/>
              </a:ext>
            </a:extLst>
          </p:cNvPr>
          <p:cNvSpPr/>
          <p:nvPr/>
        </p:nvSpPr>
        <p:spPr>
          <a:xfrm>
            <a:off x="766875" y="1803608"/>
            <a:ext cx="8178800" cy="1373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05A6BA-82A3-D0D7-AF0E-35B942CAF19D}"/>
              </a:ext>
            </a:extLst>
          </p:cNvPr>
          <p:cNvSpPr txBox="1"/>
          <p:nvPr/>
        </p:nvSpPr>
        <p:spPr>
          <a:xfrm>
            <a:off x="971968" y="2014148"/>
            <a:ext cx="7973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Bharat has a rich and diverse historical and cultural heritage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. However, </a:t>
            </a:r>
            <a:r>
              <a:rPr lang="en-US" sz="1600" b="1" u="sng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the way history is taught today</a:t>
            </a:r>
            <a:r>
              <a:rPr lang="en-US" sz="1600" b="1" u="sng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is mostly passive, text-heavy and memorization-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based.This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 makes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learning </a:t>
            </a:r>
            <a:r>
              <a:rPr lang="en-US" sz="1600" b="1" u="sng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less engaging and creates a disconnect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 between young learners and their roots.</a:t>
            </a:r>
            <a:endParaRPr lang="en-IN" sz="1600" b="1" dirty="0">
              <a:solidFill>
                <a:schemeClr val="accent4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DA9D3A-84D5-C759-D33F-1F5D55C5A5C4}"/>
              </a:ext>
            </a:extLst>
          </p:cNvPr>
          <p:cNvSpPr/>
          <p:nvPr/>
        </p:nvSpPr>
        <p:spPr>
          <a:xfrm>
            <a:off x="2312634" y="5120760"/>
            <a:ext cx="6381749" cy="9454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F12761-3768-B2D3-A940-BD9E048B1332}"/>
              </a:ext>
            </a:extLst>
          </p:cNvPr>
          <p:cNvSpPr txBox="1"/>
          <p:nvPr/>
        </p:nvSpPr>
        <p:spPr>
          <a:xfrm>
            <a:off x="2717494" y="5156233"/>
            <a:ext cx="5572028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i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There is a need for interactive, technology-driven solution that turns historical knowledge into an engaging experience, allowing learners to explore, interact and discover India’s heritage in an active and immersive way.</a:t>
            </a:r>
            <a:endParaRPr lang="en-IN" sz="1333" b="1" dirty="0">
              <a:solidFill>
                <a:schemeClr val="accent4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E45F80-6016-DC00-C668-C5A43B725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98" y="173720"/>
            <a:ext cx="2249850" cy="106233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CEDD255-1668-EAE5-FD29-CCD77F715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946" y="85447"/>
            <a:ext cx="1626039" cy="66124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44C831-7E1E-B589-12F9-B3F5DBB52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132" y="1262385"/>
            <a:ext cx="3168984" cy="4753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374963" y="947524"/>
            <a:ext cx="121922" cy="382247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pl-PL"/>
              <a:t>B</a:t>
            </a:r>
            <a:r>
              <a:rPr lang="pl-PL" spc="-160"/>
              <a:t> </a:t>
            </a:r>
            <a:r>
              <a:rPr lang="pl-PL" spc="-30"/>
              <a:t>U</a:t>
            </a:r>
            <a:r>
              <a:rPr lang="pl-PL" spc="-160"/>
              <a:t> </a:t>
            </a:r>
            <a:r>
              <a:rPr lang="pl-PL" spc="-420"/>
              <a:t>I</a:t>
            </a:r>
            <a:r>
              <a:rPr lang="pl-PL" spc="-160"/>
              <a:t> </a:t>
            </a:r>
            <a:r>
              <a:rPr lang="pl-PL" spc="-65"/>
              <a:t>L</a:t>
            </a:r>
            <a:r>
              <a:rPr lang="pl-PL" spc="-155"/>
              <a:t> </a:t>
            </a:r>
            <a:r>
              <a:rPr lang="pl-PL" spc="-50"/>
              <a:t>D</a:t>
            </a:r>
            <a:endParaRPr sz="1067" spc="-33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en-IN"/>
              <a:t>W</a:t>
            </a:r>
            <a:r>
              <a:rPr lang="en-IN" spc="-180"/>
              <a:t> </a:t>
            </a:r>
            <a:r>
              <a:rPr lang="en-IN" spc="-420"/>
              <a:t>I</a:t>
            </a:r>
            <a:r>
              <a:rPr lang="en-IN" spc="-150"/>
              <a:t> </a:t>
            </a:r>
            <a:r>
              <a:rPr lang="en-IN" spc="-145"/>
              <a:t>T </a:t>
            </a:r>
            <a:r>
              <a:rPr lang="en-IN" spc="-50"/>
              <a:t>H</a:t>
            </a:r>
            <a:endParaRPr sz="1067" spc="-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68428-DC5D-E351-6DD6-C31C55765426}"/>
              </a:ext>
            </a:extLst>
          </p:cNvPr>
          <p:cNvSpPr txBox="1"/>
          <p:nvPr/>
        </p:nvSpPr>
        <p:spPr>
          <a:xfrm>
            <a:off x="1792406" y="2765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F5CDE0-9BC2-52B9-23BC-751387860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98" y="173720"/>
            <a:ext cx="2249850" cy="10623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80F8A9F-8A4D-0813-DC8F-0F765CE75418}"/>
              </a:ext>
            </a:extLst>
          </p:cNvPr>
          <p:cNvSpPr txBox="1"/>
          <p:nvPr/>
        </p:nvSpPr>
        <p:spPr>
          <a:xfrm>
            <a:off x="802005" y="1334877"/>
            <a:ext cx="10713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DHAROHAR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</a:rPr>
              <a:t> is an </a:t>
            </a:r>
            <a:r>
              <a:rPr lang="en-IN" sz="2000" i="1" u="sng" dirty="0">
                <a:solidFill>
                  <a:schemeClr val="tx2">
                    <a:lumMod val="75000"/>
                  </a:schemeClr>
                </a:solidFill>
              </a:rPr>
              <a:t>interactive historical </a:t>
            </a:r>
            <a:r>
              <a:rPr lang="en-IN" sz="2000" b="1" i="1" u="sng" dirty="0">
                <a:solidFill>
                  <a:schemeClr val="tx2">
                    <a:lumMod val="75000"/>
                  </a:schemeClr>
                </a:solidFill>
              </a:rPr>
              <a:t>game </a:t>
            </a:r>
            <a:r>
              <a:rPr lang="en-IN" sz="2000" i="1" u="sng" dirty="0">
                <a:solidFill>
                  <a:schemeClr val="tx2">
                    <a:lumMod val="75000"/>
                  </a:schemeClr>
                </a:solidFill>
              </a:rPr>
              <a:t>that converts Bharat’s history and cultural heritage into </a:t>
            </a:r>
            <a:r>
              <a:rPr lang="en-IN" sz="2000" b="1" i="1" u="sng" dirty="0">
                <a:solidFill>
                  <a:schemeClr val="tx2">
                    <a:lumMod val="75000"/>
                  </a:schemeClr>
                </a:solidFill>
              </a:rPr>
              <a:t>playable stories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</a:rPr>
              <a:t>. Players explore historical worlds, interact with characters, complete culturally inspired quests, solve puzzles, and discover authentic historical knowledge through gameplay.</a:t>
            </a:r>
            <a:br>
              <a:rPr lang="en-IN" sz="2000" dirty="0">
                <a:solidFill>
                  <a:schemeClr val="tx2">
                    <a:lumMod val="75000"/>
                  </a:schemeClr>
                </a:solidFill>
              </a:rPr>
            </a:br>
            <a:endParaRPr lang="en-IN" sz="2000" dirty="0"/>
          </a:p>
        </p:txBody>
      </p:sp>
      <p:sp>
        <p:nvSpPr>
          <p:cNvPr id="25" name="Scroll: Vertical 24">
            <a:extLst>
              <a:ext uri="{FF2B5EF4-FFF2-40B4-BE49-F238E27FC236}">
                <a16:creationId xmlns:a16="http://schemas.microsoft.com/office/drawing/2014/main" id="{13846F07-C84F-94C1-EF83-C581FAB97B7A}"/>
              </a:ext>
            </a:extLst>
          </p:cNvPr>
          <p:cNvSpPr/>
          <p:nvPr/>
        </p:nvSpPr>
        <p:spPr>
          <a:xfrm>
            <a:off x="6619875" y="2387191"/>
            <a:ext cx="5391773" cy="3884300"/>
          </a:xfrm>
          <a:prstGeom prst="vertic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31CE91-A98C-7ABF-297F-656BD1089380}"/>
              </a:ext>
            </a:extLst>
          </p:cNvPr>
          <p:cNvSpPr txBox="1"/>
          <p:nvPr/>
        </p:nvSpPr>
        <p:spPr>
          <a:xfrm rot="16200000">
            <a:off x="4552867" y="3924505"/>
            <a:ext cx="3991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PASSIVE LEARNING → ACTIVE EXPERIENCE</a:t>
            </a:r>
          </a:p>
          <a:p>
            <a:endParaRPr lang="en-IN" sz="16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49412B-77FC-7BEE-391D-845DC2CBF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25CDDD-3A9F-A6EB-1DCA-D4CAC43E2B5D}"/>
              </a:ext>
            </a:extLst>
          </p:cNvPr>
          <p:cNvSpPr txBox="1"/>
          <p:nvPr/>
        </p:nvSpPr>
        <p:spPr>
          <a:xfrm>
            <a:off x="1511588" y="890455"/>
            <a:ext cx="3409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DHAROHAR</a:t>
            </a:r>
            <a:endParaRPr lang="en-IN" sz="2800" b="1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le 32">
            <a:extLst>
              <a:ext uri="{FF2B5EF4-FFF2-40B4-BE49-F238E27FC236}">
                <a16:creationId xmlns:a16="http://schemas.microsoft.com/office/drawing/2014/main" id="{CB1AF413-EDF7-3D67-CECD-DF31E119879A}"/>
              </a:ext>
            </a:extLst>
          </p:cNvPr>
          <p:cNvSpPr/>
          <p:nvPr/>
        </p:nvSpPr>
        <p:spPr>
          <a:xfrm>
            <a:off x="7598184" y="3036565"/>
            <a:ext cx="3563204" cy="539564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lvl="0" indent="-514350">
              <a:buFont typeface="+mj-lt"/>
              <a:buAutoNum type="romanUcPeriod"/>
            </a:pPr>
            <a:r>
              <a:rPr lang="en-IN" sz="2200" b="1" dirty="0">
                <a:solidFill>
                  <a:schemeClr val="bg1"/>
                </a:solidFill>
                <a:latin typeface="+mj-lt"/>
              </a:rPr>
              <a:t>Read → Explore</a:t>
            </a:r>
            <a:r>
              <a:rPr lang="en-IN" sz="2200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9" name="Rounded Rectangle 37">
            <a:extLst>
              <a:ext uri="{FF2B5EF4-FFF2-40B4-BE49-F238E27FC236}">
                <a16:creationId xmlns:a16="http://schemas.microsoft.com/office/drawing/2014/main" id="{4BB3D5B7-8F23-E42A-C825-1CC67CB3EA3E}"/>
              </a:ext>
            </a:extLst>
          </p:cNvPr>
          <p:cNvSpPr/>
          <p:nvPr/>
        </p:nvSpPr>
        <p:spPr>
          <a:xfrm>
            <a:off x="7598184" y="3758941"/>
            <a:ext cx="3563204" cy="539564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6254E4DB-3B61-E1EF-8859-098F518086F8}"/>
              </a:ext>
            </a:extLst>
          </p:cNvPr>
          <p:cNvSpPr/>
          <p:nvPr/>
        </p:nvSpPr>
        <p:spPr>
          <a:xfrm>
            <a:off x="7598184" y="4492943"/>
            <a:ext cx="3563204" cy="637666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Rounded Rectangle 47">
            <a:extLst>
              <a:ext uri="{FF2B5EF4-FFF2-40B4-BE49-F238E27FC236}">
                <a16:creationId xmlns:a16="http://schemas.microsoft.com/office/drawing/2014/main" id="{86589644-CC35-182F-0DAC-6CE0DC862B79}"/>
              </a:ext>
            </a:extLst>
          </p:cNvPr>
          <p:cNvSpPr/>
          <p:nvPr/>
        </p:nvSpPr>
        <p:spPr>
          <a:xfrm>
            <a:off x="7598184" y="5325047"/>
            <a:ext cx="3563204" cy="637666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56BDD6-8A71-CB04-3B6B-4A46C4F751FB}"/>
              </a:ext>
            </a:extLst>
          </p:cNvPr>
          <p:cNvSpPr txBox="1"/>
          <p:nvPr/>
        </p:nvSpPr>
        <p:spPr>
          <a:xfrm>
            <a:off x="7646952" y="3847931"/>
            <a:ext cx="7028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solidFill>
                  <a:schemeClr val="bg1"/>
                </a:solidFill>
              </a:rPr>
              <a:t>II.  Memorize -&gt; Discover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20EFB5-82A6-9AD7-8E7A-D7F64F5365B4}"/>
              </a:ext>
            </a:extLst>
          </p:cNvPr>
          <p:cNvSpPr txBox="1"/>
          <p:nvPr/>
        </p:nvSpPr>
        <p:spPr>
          <a:xfrm>
            <a:off x="7598184" y="4619223"/>
            <a:ext cx="7028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solidFill>
                  <a:schemeClr val="bg1"/>
                </a:solidFill>
              </a:rPr>
              <a:t>III.  Static facts -&gt; Interactive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5FBEE8-3BF7-D36D-3A22-90B33ED17E6E}"/>
              </a:ext>
            </a:extLst>
          </p:cNvPr>
          <p:cNvSpPr txBox="1"/>
          <p:nvPr/>
        </p:nvSpPr>
        <p:spPr>
          <a:xfrm>
            <a:off x="7646952" y="5265611"/>
            <a:ext cx="33651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solidFill>
                  <a:schemeClr val="bg1"/>
                </a:solidFill>
              </a:rPr>
              <a:t>IV.  Textbook Stories-&gt; Playable experiences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22FB82-3C0A-0F0B-B064-05FD8B579D18}"/>
              </a:ext>
            </a:extLst>
          </p:cNvPr>
          <p:cNvSpPr txBox="1"/>
          <p:nvPr/>
        </p:nvSpPr>
        <p:spPr>
          <a:xfrm>
            <a:off x="7586519" y="2430560"/>
            <a:ext cx="8271162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50" b="1" i="0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How it addresses the problem</a:t>
            </a:r>
          </a:p>
        </p:txBody>
      </p:sp>
      <p:sp>
        <p:nvSpPr>
          <p:cNvPr id="38" name="Scroll: Vertical 37">
            <a:extLst>
              <a:ext uri="{FF2B5EF4-FFF2-40B4-BE49-F238E27FC236}">
                <a16:creationId xmlns:a16="http://schemas.microsoft.com/office/drawing/2014/main" id="{01AB2D5D-943F-FAA8-0E9A-43E9B0CF5C7F}"/>
              </a:ext>
            </a:extLst>
          </p:cNvPr>
          <p:cNvSpPr/>
          <p:nvPr/>
        </p:nvSpPr>
        <p:spPr>
          <a:xfrm>
            <a:off x="824043" y="2391811"/>
            <a:ext cx="5391773" cy="3884300"/>
          </a:xfrm>
          <a:prstGeom prst="vertic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ounded Rectangle 32">
            <a:extLst>
              <a:ext uri="{FF2B5EF4-FFF2-40B4-BE49-F238E27FC236}">
                <a16:creationId xmlns:a16="http://schemas.microsoft.com/office/drawing/2014/main" id="{1C92EDC6-1C0B-3CE2-1255-46A11EB442CE}"/>
              </a:ext>
            </a:extLst>
          </p:cNvPr>
          <p:cNvSpPr/>
          <p:nvPr/>
        </p:nvSpPr>
        <p:spPr>
          <a:xfrm>
            <a:off x="1802352" y="3041185"/>
            <a:ext cx="3563204" cy="539564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lvl="0" indent="-514350">
              <a:buFont typeface="+mj-lt"/>
              <a:buAutoNum type="romanUcPeriod"/>
            </a:pPr>
            <a:r>
              <a:rPr lang="en-IN" sz="2200" b="1" dirty="0">
                <a:solidFill>
                  <a:schemeClr val="bg1"/>
                </a:solidFill>
                <a:latin typeface="+mj-lt"/>
              </a:rPr>
              <a:t>History as gameplay</a:t>
            </a:r>
            <a:endParaRPr lang="en-IN" sz="2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Rounded Rectangle 37">
            <a:extLst>
              <a:ext uri="{FF2B5EF4-FFF2-40B4-BE49-F238E27FC236}">
                <a16:creationId xmlns:a16="http://schemas.microsoft.com/office/drawing/2014/main" id="{0E33448F-77D8-3474-117D-110A5D8A6AD3}"/>
              </a:ext>
            </a:extLst>
          </p:cNvPr>
          <p:cNvSpPr/>
          <p:nvPr/>
        </p:nvSpPr>
        <p:spPr>
          <a:xfrm>
            <a:off x="1802352" y="3763561"/>
            <a:ext cx="3563204" cy="539564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2">
            <a:extLst>
              <a:ext uri="{FF2B5EF4-FFF2-40B4-BE49-F238E27FC236}">
                <a16:creationId xmlns:a16="http://schemas.microsoft.com/office/drawing/2014/main" id="{0D87FAEA-684C-2E0B-60A5-9E10B1AE53C5}"/>
              </a:ext>
            </a:extLst>
          </p:cNvPr>
          <p:cNvSpPr/>
          <p:nvPr/>
        </p:nvSpPr>
        <p:spPr>
          <a:xfrm>
            <a:off x="1802352" y="4497563"/>
            <a:ext cx="3563204" cy="637666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FFCDE7-8915-CB0C-DAC9-E5FAB1CE7515}"/>
              </a:ext>
            </a:extLst>
          </p:cNvPr>
          <p:cNvSpPr txBox="1"/>
          <p:nvPr/>
        </p:nvSpPr>
        <p:spPr>
          <a:xfrm>
            <a:off x="1790687" y="2435180"/>
            <a:ext cx="8271162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50" b="1" i="0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Innovation &amp; Uniqueness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EA3E9C-FEF3-AD0C-1FE1-AD20F8128E67}"/>
              </a:ext>
            </a:extLst>
          </p:cNvPr>
          <p:cNvSpPr txBox="1"/>
          <p:nvPr/>
        </p:nvSpPr>
        <p:spPr>
          <a:xfrm>
            <a:off x="1790687" y="3796127"/>
            <a:ext cx="7028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solidFill>
                  <a:schemeClr val="bg1"/>
                </a:solidFill>
              </a:rPr>
              <a:t>II.  Quest based learning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D48DBF-72E0-8FAC-0361-8195F6F1ABDD}"/>
              </a:ext>
            </a:extLst>
          </p:cNvPr>
          <p:cNvSpPr txBox="1"/>
          <p:nvPr/>
        </p:nvSpPr>
        <p:spPr>
          <a:xfrm>
            <a:off x="1802352" y="4623335"/>
            <a:ext cx="7028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solidFill>
                  <a:schemeClr val="bg1"/>
                </a:solidFill>
              </a:rPr>
              <a:t>III.  Authenticity first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54" name="Rounded Rectangle 47">
            <a:extLst>
              <a:ext uri="{FF2B5EF4-FFF2-40B4-BE49-F238E27FC236}">
                <a16:creationId xmlns:a16="http://schemas.microsoft.com/office/drawing/2014/main" id="{D097B466-9409-F2F9-CD3E-2C3A7AF48FBF}"/>
              </a:ext>
            </a:extLst>
          </p:cNvPr>
          <p:cNvSpPr/>
          <p:nvPr/>
        </p:nvSpPr>
        <p:spPr>
          <a:xfrm>
            <a:off x="1798337" y="5331498"/>
            <a:ext cx="3563204" cy="637666"/>
          </a:xfrm>
          <a:prstGeom prst="roundRect">
            <a:avLst/>
          </a:prstGeom>
          <a:solidFill>
            <a:srgbClr val="1F2B3F"/>
          </a:solidFill>
          <a:ln w="12700">
            <a:solidFill>
              <a:srgbClr val="32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31392F-9AB3-67C0-1772-FDB522ADC137}"/>
              </a:ext>
            </a:extLst>
          </p:cNvPr>
          <p:cNvSpPr txBox="1"/>
          <p:nvPr/>
        </p:nvSpPr>
        <p:spPr>
          <a:xfrm>
            <a:off x="1790687" y="5455439"/>
            <a:ext cx="33651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solidFill>
                  <a:schemeClr val="bg1"/>
                </a:solidFill>
              </a:rPr>
              <a:t>IV.  Modular &amp; Scalable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46DD05F9-A0C9-D3CD-4207-CA14667393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946" y="85447"/>
            <a:ext cx="1626039" cy="66124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  <p:sp>
        <p:nvSpPr>
          <p:cNvPr id="18" name="object 7" descr="$PPTXTitle">
            <a:extLst>
              <a:ext uri="{FF2B5EF4-FFF2-40B4-BE49-F238E27FC236}">
                <a16:creationId xmlns:a16="http://schemas.microsoft.com/office/drawing/2014/main" id="{1E7C29F2-17A0-1E7D-4A07-6A855D99D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8808" y="315090"/>
            <a:ext cx="7315200" cy="562547"/>
          </a:xfrm>
          <a:prstGeom prst="rect">
            <a:avLst/>
          </a:prstGeom>
        </p:spPr>
        <p:txBody>
          <a:bodyPr vert="horz" wrap="square" lIns="0" tIns="84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endParaRPr sz="3600" spc="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22521" y="209904"/>
            <a:ext cx="7315200" cy="685658"/>
          </a:xfrm>
          <a:prstGeom prst="rect">
            <a:avLst/>
          </a:prstGeom>
        </p:spPr>
        <p:txBody>
          <a:bodyPr vert="horz" wrap="square" lIns="0" tIns="84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pc="133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pl-PL"/>
              <a:t>B</a:t>
            </a:r>
            <a:r>
              <a:rPr lang="pl-PL" spc="-160"/>
              <a:t> </a:t>
            </a:r>
            <a:r>
              <a:rPr lang="pl-PL" spc="-30"/>
              <a:t>U</a:t>
            </a:r>
            <a:r>
              <a:rPr lang="pl-PL" spc="-160"/>
              <a:t> </a:t>
            </a:r>
            <a:r>
              <a:rPr lang="pl-PL" spc="-420"/>
              <a:t>I</a:t>
            </a:r>
            <a:r>
              <a:rPr lang="pl-PL" spc="-160"/>
              <a:t> </a:t>
            </a:r>
            <a:r>
              <a:rPr lang="pl-PL" spc="-65"/>
              <a:t>L</a:t>
            </a:r>
            <a:r>
              <a:rPr lang="pl-PL" spc="-155"/>
              <a:t> </a:t>
            </a:r>
            <a:r>
              <a:rPr lang="pl-PL" spc="-50"/>
              <a:t>D</a:t>
            </a:r>
            <a:endParaRPr sz="1067" spc="-33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en-IN"/>
              <a:t>W</a:t>
            </a:r>
            <a:r>
              <a:rPr lang="en-IN" spc="-180"/>
              <a:t> </a:t>
            </a:r>
            <a:r>
              <a:rPr lang="en-IN" spc="-420"/>
              <a:t>I</a:t>
            </a:r>
            <a:r>
              <a:rPr lang="en-IN" spc="-150"/>
              <a:t> </a:t>
            </a:r>
            <a:r>
              <a:rPr lang="en-IN" spc="-145"/>
              <a:t>T </a:t>
            </a:r>
            <a:r>
              <a:rPr lang="en-IN" spc="-50"/>
              <a:t>H</a:t>
            </a:r>
            <a:endParaRPr sz="1067" spc="-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6AC979-33F4-68DB-7159-4AEDC1E4BA57}"/>
              </a:ext>
            </a:extLst>
          </p:cNvPr>
          <p:cNvSpPr txBox="1"/>
          <p:nvPr/>
        </p:nvSpPr>
        <p:spPr>
          <a:xfrm>
            <a:off x="2794848" y="996065"/>
            <a:ext cx="5646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4">
                    <a:lumMod val="50000"/>
                  </a:schemeClr>
                </a:solidFill>
              </a:rPr>
              <a:t>DHAROHAR is developing as a standalone game, and </a:t>
            </a:r>
            <a:r>
              <a:rPr lang="en-IN" sz="1400" b="1" u="sng" dirty="0">
                <a:solidFill>
                  <a:schemeClr val="accent4">
                    <a:lumMod val="50000"/>
                  </a:schemeClr>
                </a:solidFill>
              </a:rPr>
              <a:t>will be packaged as an executable (.exe) </a:t>
            </a:r>
            <a:r>
              <a:rPr lang="en-IN" sz="1400" dirty="0">
                <a:solidFill>
                  <a:schemeClr val="accent4">
                    <a:lumMod val="50000"/>
                  </a:schemeClr>
                </a:solidFill>
              </a:rPr>
              <a:t>for direct installation and offline gameplay.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193B1B-3D99-501F-6671-48B9B94FC39A}"/>
              </a:ext>
            </a:extLst>
          </p:cNvPr>
          <p:cNvSpPr/>
          <p:nvPr/>
        </p:nvSpPr>
        <p:spPr>
          <a:xfrm>
            <a:off x="2913244" y="978290"/>
            <a:ext cx="5392660" cy="531759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843358-B9E5-357B-0498-3FF2816E8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204" y="0"/>
            <a:ext cx="2249850" cy="106233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4700FAC-517F-A231-F96C-5F3F5783A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866734-DFDB-F09A-1DA8-FC727982C7C3}"/>
              </a:ext>
            </a:extLst>
          </p:cNvPr>
          <p:cNvSpPr txBox="1"/>
          <p:nvPr/>
        </p:nvSpPr>
        <p:spPr>
          <a:xfrm>
            <a:off x="8830926" y="1701992"/>
            <a:ext cx="3325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Performance</a:t>
            </a:r>
            <a:br>
              <a:rPr lang="en-IN" sz="14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Lightweight technologies for smooth gameplay and efficient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1F63F9-87C0-1D69-CA52-56635E313FB1}"/>
              </a:ext>
            </a:extLst>
          </p:cNvPr>
          <p:cNvSpPr txBox="1"/>
          <p:nvPr/>
        </p:nvSpPr>
        <p:spPr>
          <a:xfrm>
            <a:off x="8829144" y="2611441"/>
            <a:ext cx="34246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Scalability</a:t>
            </a:r>
            <a:br>
              <a:rPr lang="en-IN" sz="14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Modular architecture allows new eras, stories, assets and mechanics to be added easily.</a:t>
            </a:r>
          </a:p>
          <a:p>
            <a:r>
              <a:rPr lang="en-IN" sz="14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lang="en-IN" sz="1400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0BD061-FB28-C8BA-6FB3-9A4A77D6B8A8}"/>
              </a:ext>
            </a:extLst>
          </p:cNvPr>
          <p:cNvSpPr txBox="1"/>
          <p:nvPr/>
        </p:nvSpPr>
        <p:spPr>
          <a:xfrm>
            <a:off x="8829144" y="3728418"/>
            <a:ext cx="32592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AI-Assisted Creation</a:t>
            </a:r>
            <a:br>
              <a:rPr lang="en-IN" sz="14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GPT + Gemini support faster generation of assets, scripts, dialogues and content assistance.</a:t>
            </a:r>
          </a:p>
          <a:p>
            <a:endParaRPr lang="en-IN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B02C7F-6CA9-A1B5-63E7-6E207E08DD70}"/>
              </a:ext>
            </a:extLst>
          </p:cNvPr>
          <p:cNvSpPr txBox="1"/>
          <p:nvPr/>
        </p:nvSpPr>
        <p:spPr>
          <a:xfrm>
            <a:off x="8830926" y="4808077"/>
            <a:ext cx="28924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Version Control</a:t>
            </a:r>
            <a:br>
              <a:rPr lang="en-IN" sz="14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GitHub enables collaborative development, code management and version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38976E-F2E1-808E-C242-B33AE01599F4}"/>
              </a:ext>
            </a:extLst>
          </p:cNvPr>
          <p:cNvCxnSpPr>
            <a:cxnSpLocks/>
          </p:cNvCxnSpPr>
          <p:nvPr/>
        </p:nvCxnSpPr>
        <p:spPr>
          <a:xfrm flipH="1">
            <a:off x="9222961" y="2539642"/>
            <a:ext cx="166376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A92D6C5-B7CC-5146-FF4C-482DC313715D}"/>
              </a:ext>
            </a:extLst>
          </p:cNvPr>
          <p:cNvSpPr/>
          <p:nvPr/>
        </p:nvSpPr>
        <p:spPr>
          <a:xfrm>
            <a:off x="9115669" y="1316520"/>
            <a:ext cx="2816603" cy="3900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WHY THIS TECH STACK ?</a:t>
            </a:r>
            <a:endParaRPr lang="en-IN" sz="1600" b="1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7ECE2B-E6D5-BE6F-F026-8124CBB3CAA5}"/>
              </a:ext>
            </a:extLst>
          </p:cNvPr>
          <p:cNvCxnSpPr>
            <a:cxnSpLocks/>
          </p:cNvCxnSpPr>
          <p:nvPr/>
        </p:nvCxnSpPr>
        <p:spPr>
          <a:xfrm flipH="1">
            <a:off x="9222961" y="3606442"/>
            <a:ext cx="166376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DD0507-A718-A2D4-97DD-001409F0047E}"/>
              </a:ext>
            </a:extLst>
          </p:cNvPr>
          <p:cNvCxnSpPr>
            <a:cxnSpLocks/>
          </p:cNvCxnSpPr>
          <p:nvPr/>
        </p:nvCxnSpPr>
        <p:spPr>
          <a:xfrm flipH="1">
            <a:off x="9222961" y="4695161"/>
            <a:ext cx="166376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026E6B-649E-18E1-CCDA-9BC68A746D37}"/>
              </a:ext>
            </a:extLst>
          </p:cNvPr>
          <p:cNvCxnSpPr>
            <a:cxnSpLocks/>
          </p:cNvCxnSpPr>
          <p:nvPr/>
        </p:nvCxnSpPr>
        <p:spPr>
          <a:xfrm flipH="1" flipV="1">
            <a:off x="8628571" y="1277133"/>
            <a:ext cx="70301" cy="484320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2A52CC-CE72-1BB0-5863-D5DFA08E98C5}"/>
              </a:ext>
            </a:extLst>
          </p:cNvPr>
          <p:cNvSpPr/>
          <p:nvPr/>
        </p:nvSpPr>
        <p:spPr>
          <a:xfrm>
            <a:off x="354261" y="4683528"/>
            <a:ext cx="2414016" cy="5032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4F0352-BF7E-FE82-62CB-D80A8B3E80AA}"/>
              </a:ext>
            </a:extLst>
          </p:cNvPr>
          <p:cNvSpPr txBox="1"/>
          <p:nvPr/>
        </p:nvSpPr>
        <p:spPr>
          <a:xfrm>
            <a:off x="394405" y="4768232"/>
            <a:ext cx="218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GAME FLOW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4695349-6338-52EE-4449-F2D7B20CA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44205" y="5299370"/>
            <a:ext cx="834130" cy="722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C29E1-CA4D-EF72-35CC-9486D357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30" y="1535396"/>
            <a:ext cx="7524494" cy="2727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2D1858-A49E-0B60-0380-B49C95CD5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79" y="4131024"/>
            <a:ext cx="5512083" cy="2006703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F9CC9317-5D7B-603B-D4EF-769E20F29B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946" y="85447"/>
            <a:ext cx="1626039" cy="66124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03DD-69ED-5CAD-A44E-EE9CF892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69B4C8C-3A8A-581C-1ECA-6FF942B5E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8998" y="592439"/>
            <a:ext cx="7315200" cy="685658"/>
          </a:xfrm>
          <a:prstGeom prst="rect">
            <a:avLst/>
          </a:prstGeom>
        </p:spPr>
        <p:txBody>
          <a:bodyPr vert="horz" wrap="square" lIns="0" tIns="84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79967" indent="-571500">
              <a:spcBef>
                <a:spcPts val="67"/>
              </a:spcBef>
              <a:buFont typeface="Wingdings" panose="05000000000000000000" pitchFamily="2" charset="2"/>
              <a:buChar char="v"/>
            </a:pPr>
            <a:r>
              <a:rPr lang="en-US" spc="153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OUR BUILT MVP</a:t>
            </a:r>
            <a:endParaRPr b="1" i="1" spc="133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804A6-59DD-03D9-5195-9D4DECC8596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pl-PL"/>
              <a:t>B</a:t>
            </a:r>
            <a:r>
              <a:rPr lang="pl-PL" spc="-160"/>
              <a:t> </a:t>
            </a:r>
            <a:r>
              <a:rPr lang="pl-PL" spc="-30"/>
              <a:t>U</a:t>
            </a:r>
            <a:r>
              <a:rPr lang="pl-PL" spc="-160"/>
              <a:t> </a:t>
            </a:r>
            <a:r>
              <a:rPr lang="pl-PL" spc="-420"/>
              <a:t>I</a:t>
            </a:r>
            <a:r>
              <a:rPr lang="pl-PL" spc="-160"/>
              <a:t> </a:t>
            </a:r>
            <a:r>
              <a:rPr lang="pl-PL" spc="-65"/>
              <a:t>L</a:t>
            </a:r>
            <a:r>
              <a:rPr lang="pl-PL" spc="-155"/>
              <a:t> </a:t>
            </a:r>
            <a:r>
              <a:rPr lang="pl-PL" spc="-50"/>
              <a:t>D</a:t>
            </a:r>
            <a:endParaRPr sz="1067" spc="-33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421168C-6510-5807-4DFD-9420F8E3EC8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en-IN"/>
              <a:t>W</a:t>
            </a:r>
            <a:r>
              <a:rPr lang="en-IN" spc="-180"/>
              <a:t> </a:t>
            </a:r>
            <a:r>
              <a:rPr lang="en-IN" spc="-420"/>
              <a:t>I</a:t>
            </a:r>
            <a:r>
              <a:rPr lang="en-IN" spc="-150"/>
              <a:t> </a:t>
            </a:r>
            <a:r>
              <a:rPr lang="en-IN" spc="-145"/>
              <a:t>T </a:t>
            </a:r>
            <a:r>
              <a:rPr lang="en-IN" spc="-50"/>
              <a:t>H</a:t>
            </a:r>
            <a:endParaRPr sz="1067" spc="-33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E7A4F0-F924-41EA-1365-5A8BC4BD3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98" y="77468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91F90-C346-7D26-FA6B-3441DCA4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9" y="1249921"/>
            <a:ext cx="2580864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28204F-1326-75CB-2C7A-D532B9ABC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699" y="1249921"/>
            <a:ext cx="2576364" cy="18961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8486D2-20BB-C6C4-5BEC-C310EF03E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549" y="1236057"/>
            <a:ext cx="2590895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B47FE3-389E-5805-7BCC-0299B54AF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549" y="3838436"/>
            <a:ext cx="2572778" cy="1828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09DACA-D3B5-1EC7-3687-1DBB1CE11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9369" y="3838436"/>
            <a:ext cx="2572777" cy="1828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65A0DF3-62BC-4BED-CD8E-5CAF2352A5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437" y="3838436"/>
            <a:ext cx="2572776" cy="1826394"/>
          </a:xfrm>
          <a:prstGeom prst="rect">
            <a:avLst/>
          </a:prstGeom>
        </p:spPr>
      </p:pic>
      <p:sp>
        <p:nvSpPr>
          <p:cNvPr id="25" name="Parallelogram 24">
            <a:extLst>
              <a:ext uri="{FF2B5EF4-FFF2-40B4-BE49-F238E27FC236}">
                <a16:creationId xmlns:a16="http://schemas.microsoft.com/office/drawing/2014/main" id="{B4762AB4-4F10-8E63-5FC6-5414FFA4BA5B}"/>
              </a:ext>
            </a:extLst>
          </p:cNvPr>
          <p:cNvSpPr/>
          <p:nvPr/>
        </p:nvSpPr>
        <p:spPr>
          <a:xfrm>
            <a:off x="539016" y="3187869"/>
            <a:ext cx="1559292" cy="305601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ENTER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3DD0CC-2E98-DF46-1AB3-581E45ED7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93D97CBE-7611-AFB0-B27D-38948AC9EEB6}"/>
              </a:ext>
            </a:extLst>
          </p:cNvPr>
          <p:cNvSpPr/>
          <p:nvPr/>
        </p:nvSpPr>
        <p:spPr>
          <a:xfrm>
            <a:off x="4832234" y="3230331"/>
            <a:ext cx="1693693" cy="305601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EXPLORE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545D3BE3-31FE-244F-AAAF-4A1EF54B022F}"/>
              </a:ext>
            </a:extLst>
          </p:cNvPr>
          <p:cNvSpPr/>
          <p:nvPr/>
        </p:nvSpPr>
        <p:spPr>
          <a:xfrm>
            <a:off x="8945675" y="3214562"/>
            <a:ext cx="1907652" cy="321370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INTERACT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CE5934C0-4C3F-C4A2-397A-B10384CD6A77}"/>
              </a:ext>
            </a:extLst>
          </p:cNvPr>
          <p:cNvSpPr/>
          <p:nvPr/>
        </p:nvSpPr>
        <p:spPr>
          <a:xfrm>
            <a:off x="654519" y="5856995"/>
            <a:ext cx="1559292" cy="305601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LEARN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BA7B0F24-F2A3-41D3-40BE-C21729BD4090}"/>
              </a:ext>
            </a:extLst>
          </p:cNvPr>
          <p:cNvSpPr/>
          <p:nvPr/>
        </p:nvSpPr>
        <p:spPr>
          <a:xfrm>
            <a:off x="4832233" y="5816940"/>
            <a:ext cx="1693693" cy="305601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DISCOVER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761CBBC7-BFDB-F91A-370A-DC01C1FCDEB8}"/>
              </a:ext>
            </a:extLst>
          </p:cNvPr>
          <p:cNvSpPr/>
          <p:nvPr/>
        </p:nvSpPr>
        <p:spPr>
          <a:xfrm>
            <a:off x="8796350" y="5816940"/>
            <a:ext cx="1559292" cy="305601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ell MT" panose="02020503060305020303" pitchFamily="18" charset="0"/>
              </a:rPr>
              <a:t>SOLVE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AAD4791-12D4-C900-FE9D-C645E1A09203}"/>
              </a:ext>
            </a:extLst>
          </p:cNvPr>
          <p:cNvSpPr/>
          <p:nvPr/>
        </p:nvSpPr>
        <p:spPr>
          <a:xfrm>
            <a:off x="3243714" y="1982804"/>
            <a:ext cx="712269" cy="503238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01B5EBF-5754-2D1D-4A8E-6825A2FD7846}"/>
              </a:ext>
            </a:extLst>
          </p:cNvPr>
          <p:cNvSpPr/>
          <p:nvPr/>
        </p:nvSpPr>
        <p:spPr>
          <a:xfrm>
            <a:off x="7234171" y="1883585"/>
            <a:ext cx="712269" cy="503238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63B61CF5-0221-254B-E917-6BB8F7318542}"/>
              </a:ext>
            </a:extLst>
          </p:cNvPr>
          <p:cNvSpPr/>
          <p:nvPr/>
        </p:nvSpPr>
        <p:spPr>
          <a:xfrm rot="5400000">
            <a:off x="8343034" y="3235418"/>
            <a:ext cx="522763" cy="38387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9832E7CE-6053-95D2-CF94-9FEA6BB97CFE}"/>
              </a:ext>
            </a:extLst>
          </p:cNvPr>
          <p:cNvSpPr/>
          <p:nvPr/>
        </p:nvSpPr>
        <p:spPr>
          <a:xfrm>
            <a:off x="7239060" y="4442109"/>
            <a:ext cx="712269" cy="503238"/>
          </a:xfrm>
          <a:prstGeom prst="lef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Left 49">
            <a:extLst>
              <a:ext uri="{FF2B5EF4-FFF2-40B4-BE49-F238E27FC236}">
                <a16:creationId xmlns:a16="http://schemas.microsoft.com/office/drawing/2014/main" id="{CFEAB387-FD98-551D-C6D3-ECA63F48C02C}"/>
              </a:ext>
            </a:extLst>
          </p:cNvPr>
          <p:cNvSpPr/>
          <p:nvPr/>
        </p:nvSpPr>
        <p:spPr>
          <a:xfrm>
            <a:off x="3243713" y="4388185"/>
            <a:ext cx="712269" cy="503238"/>
          </a:xfrm>
          <a:prstGeom prst="lef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1B904E78-130D-1763-38DF-11237DCF95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0352" y="0"/>
            <a:ext cx="1532406" cy="66124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99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21792" y="1188720"/>
            <a:ext cx="3401568" cy="5166360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115568"/>
            <a:ext cx="3401568" cy="5166360"/>
          </a:xfrm>
          <a:prstGeom prst="roundRect">
            <a:avLst/>
          </a:prstGeom>
          <a:solidFill>
            <a:srgbClr val="EDF5F8"/>
          </a:solidFill>
          <a:ln w="13970">
            <a:solidFill>
              <a:srgbClr val="A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8096" y="1280160"/>
            <a:ext cx="2999232" cy="73152"/>
          </a:xfrm>
          <a:prstGeom prst="roundRect">
            <a:avLst/>
          </a:prstGeom>
          <a:solidFill>
            <a:srgbClr val="37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81328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B3042"/>
                </a:solidFill>
                <a:latin typeface="Aptos Display"/>
              </a:defRPr>
            </a:pPr>
            <a: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1947672"/>
            <a:ext cx="1115568" cy="22860"/>
          </a:xfrm>
          <a:prstGeom prst="rect">
            <a:avLst/>
          </a:prstGeom>
          <a:solidFill>
            <a:srgbClr val="37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194560"/>
            <a:ext cx="2907792" cy="388747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376780"/>
                </a:solidFill>
                <a:latin typeface="Aptos"/>
              </a:rPr>
              <a:t>1.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Uses existing game engine (Godot).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376780"/>
                </a:solidFill>
                <a:latin typeface="Aptos"/>
              </a:rPr>
              <a:t>2.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Content can be sourced from verified historical sources.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376780"/>
                </a:solidFill>
                <a:latin typeface="Aptos"/>
              </a:rPr>
              <a:t>3.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Modular architecture enables easy expansion.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376780"/>
                </a:solidFill>
                <a:latin typeface="Aptos"/>
              </a:rPr>
              <a:t>4.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MVP can start with one era/story and scale progressively.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188720"/>
            <a:ext cx="3401568" cy="5166360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87952" y="1115568"/>
            <a:ext cx="3401568" cy="5166360"/>
          </a:xfrm>
          <a:prstGeom prst="roundRect">
            <a:avLst/>
          </a:prstGeom>
          <a:solidFill>
            <a:srgbClr val="EDF5F8"/>
          </a:solidFill>
          <a:ln w="13970">
            <a:solidFill>
              <a:srgbClr val="A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280160"/>
            <a:ext cx="2999232" cy="73152"/>
          </a:xfrm>
          <a:prstGeom prst="roundRect">
            <a:avLst/>
          </a:prstGeom>
          <a:solidFill>
            <a:srgbClr val="43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481328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B3042"/>
                </a:solidFill>
                <a:latin typeface="Aptos Display"/>
              </a:defRPr>
            </a:pPr>
            <a:r>
              <a:t>RISKS &amp; CHALLENGES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0952" y="1947672"/>
            <a:ext cx="1115568" cy="22860"/>
          </a:xfrm>
          <a:prstGeom prst="rect">
            <a:avLst/>
          </a:prstGeom>
          <a:solidFill>
            <a:srgbClr val="436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194560"/>
            <a:ext cx="2907792" cy="32226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436F67"/>
                </a:solidFill>
                <a:latin typeface="Aptos"/>
              </a:rPr>
              <a:t>1.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Maintaining historical accuracy.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436F67"/>
                </a:solidFill>
                <a:latin typeface="Aptos"/>
              </a:rPr>
              <a:t>2.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High effort in creating immersive content.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436F67"/>
                </a:solidFill>
                <a:latin typeface="Aptos"/>
              </a:rPr>
              <a:t>3.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Managing multilingual &amp; regional diversity.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436F67"/>
                </a:solidFill>
                <a:latin typeface="Aptos"/>
              </a:rPr>
              <a:t>4.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Balancing learning with engaging gameplay.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188720"/>
            <a:ext cx="3401568" cy="5166360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08975" y="1115568"/>
            <a:ext cx="3401568" cy="5166360"/>
          </a:xfrm>
          <a:prstGeom prst="roundRect">
            <a:avLst/>
          </a:prstGeom>
          <a:solidFill>
            <a:srgbClr val="EDF5F8"/>
          </a:solidFill>
          <a:ln w="13970">
            <a:solidFill>
              <a:srgbClr val="A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10144" y="1280160"/>
            <a:ext cx="2999232" cy="73152"/>
          </a:xfrm>
          <a:prstGeom prst="roundRect">
            <a:avLst/>
          </a:prstGeom>
          <a:solidFill>
            <a:srgbClr val="B86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7575" y="1481328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B3042"/>
                </a:solidFill>
                <a:latin typeface="Aptos Display"/>
              </a:defRPr>
            </a:pPr>
            <a:r>
              <a:t>HOW TO OVERCOME?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1976" y="1947672"/>
            <a:ext cx="1115568" cy="22860"/>
          </a:xfrm>
          <a:prstGeom prst="rect">
            <a:avLst/>
          </a:prstGeom>
          <a:solidFill>
            <a:srgbClr val="B86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10728" y="2000033"/>
            <a:ext cx="2907792" cy="42198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B8633D"/>
                </a:solidFill>
                <a:latin typeface="Aptos"/>
              </a:rPr>
              <a:t>1.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Ground AI using a verified knowledge base.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B8633D"/>
                </a:solidFill>
                <a:latin typeface="Aptos"/>
              </a:rPr>
              <a:t>2.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Use reusable assets &amp; modular game mechanics.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B8633D"/>
                </a:solidFill>
                <a:latin typeface="Aptos"/>
              </a:rPr>
              <a:t>3.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Follow phased development for controlled scaling.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defRPr sz="1450">
                <a:solidFill>
                  <a:srgbClr val="2D373F"/>
                </a:solidFill>
                <a:latin typeface="Aptos"/>
              </a:defRPr>
            </a:pPr>
            <a:r>
              <a:rPr sz="2000" b="1" dirty="0">
                <a:solidFill>
                  <a:srgbClr val="B8633D"/>
                </a:solidFill>
                <a:latin typeface="Aptos"/>
              </a:rPr>
              <a:t>4.  </a:t>
            </a:r>
            <a:r>
              <a:rPr sz="2000" dirty="0">
                <a:solidFill>
                  <a:srgbClr val="2D373F"/>
                </a:solidFill>
                <a:latin typeface="Aptos"/>
              </a:rPr>
              <a:t>Conduct continuous user testing &amp; expert validation.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8FA2275-3D0A-4B73-9C24-D061D3178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798" y="25799"/>
            <a:ext cx="2249850" cy="106233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C75F9AA-8989-22C9-9F2A-B221EDB3F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504702"/>
            <a:ext cx="12191999" cy="42394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4AAB0D1-D54D-889D-BEA3-9C05219493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946" y="0"/>
            <a:ext cx="1651278" cy="64633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4A2529-04AF-724D-F1E2-8C066D37A759}"/>
              </a:ext>
            </a:extLst>
          </p:cNvPr>
          <p:cNvSpPr txBox="1"/>
          <p:nvPr/>
        </p:nvSpPr>
        <p:spPr>
          <a:xfrm>
            <a:off x="2742254" y="227763"/>
            <a:ext cx="7019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pl-PL"/>
              <a:t>B</a:t>
            </a:r>
            <a:r>
              <a:rPr lang="pl-PL" spc="-160"/>
              <a:t> </a:t>
            </a:r>
            <a:r>
              <a:rPr lang="pl-PL" spc="-30"/>
              <a:t>U</a:t>
            </a:r>
            <a:r>
              <a:rPr lang="pl-PL" spc="-160"/>
              <a:t> </a:t>
            </a:r>
            <a:r>
              <a:rPr lang="pl-PL" spc="-420"/>
              <a:t>I</a:t>
            </a:r>
            <a:r>
              <a:rPr lang="pl-PL" spc="-160"/>
              <a:t> </a:t>
            </a:r>
            <a:r>
              <a:rPr lang="pl-PL" spc="-65"/>
              <a:t>L</a:t>
            </a:r>
            <a:r>
              <a:rPr lang="pl-PL" spc="-155"/>
              <a:t> </a:t>
            </a:r>
            <a:r>
              <a:rPr lang="pl-PL" spc="-50"/>
              <a:t>D</a:t>
            </a:r>
            <a:endParaRPr sz="1067" spc="-33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8467">
              <a:spcBef>
                <a:spcPts val="43"/>
              </a:spcBef>
            </a:pPr>
            <a:r>
              <a:rPr lang="en-IN"/>
              <a:t>W</a:t>
            </a:r>
            <a:r>
              <a:rPr lang="en-IN" spc="-180"/>
              <a:t> </a:t>
            </a:r>
            <a:r>
              <a:rPr lang="en-IN" spc="-420"/>
              <a:t>I</a:t>
            </a:r>
            <a:r>
              <a:rPr lang="en-IN" spc="-150"/>
              <a:t> </a:t>
            </a:r>
            <a:r>
              <a:rPr lang="en-IN" spc="-145"/>
              <a:t>T </a:t>
            </a:r>
            <a:r>
              <a:rPr lang="en-IN" spc="-50"/>
              <a:t>H</a:t>
            </a:r>
            <a:endParaRPr sz="1067" spc="-33" dirty="0"/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FB03391E-DFD4-FF86-E186-F1EAB00E657A}"/>
              </a:ext>
            </a:extLst>
          </p:cNvPr>
          <p:cNvSpPr/>
          <p:nvPr/>
        </p:nvSpPr>
        <p:spPr>
          <a:xfrm rot="5400000">
            <a:off x="2785079" y="3662518"/>
            <a:ext cx="6225621" cy="344033"/>
          </a:xfrm>
          <a:prstGeom prst="mathMinu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AFE283-EF26-AC48-F089-F5B939DF9C35}"/>
              </a:ext>
            </a:extLst>
          </p:cNvPr>
          <p:cNvSpPr txBox="1"/>
          <p:nvPr/>
        </p:nvSpPr>
        <p:spPr>
          <a:xfrm rot="16200000">
            <a:off x="-2494952" y="3623554"/>
            <a:ext cx="5471321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i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“</a:t>
            </a:r>
            <a:r>
              <a:rPr lang="en-US" sz="1333" b="1" i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EXPERIENCE</a:t>
            </a:r>
            <a:r>
              <a:rPr lang="en-US" sz="1333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 HISTORY, </a:t>
            </a:r>
            <a:r>
              <a:rPr lang="en-US" sz="1333" b="1" i="1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DON’T</a:t>
            </a:r>
            <a:r>
              <a:rPr lang="en-US" sz="1333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 JUST </a:t>
            </a:r>
            <a:r>
              <a:rPr lang="en-US" sz="1333" b="1" i="1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READ</a:t>
            </a:r>
            <a:r>
              <a:rPr lang="en-US" sz="1333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 IT </a:t>
            </a:r>
            <a:r>
              <a:rPr lang="en-US" sz="1333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” </a:t>
            </a:r>
            <a:endParaRPr lang="en-IN" sz="1333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tellar" panose="020A0402060406010301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314891-2071-F371-A15E-50592A4AEC4D}"/>
              </a:ext>
            </a:extLst>
          </p:cNvPr>
          <p:cNvSpPr/>
          <p:nvPr/>
        </p:nvSpPr>
        <p:spPr>
          <a:xfrm>
            <a:off x="1828800" y="1055670"/>
            <a:ext cx="1764792" cy="303073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odoni MT" panose="02070603080606020203" pitchFamily="18" charset="0"/>
              </a:rPr>
              <a:t>BENEFITS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5A2529-A1E8-5A9E-C3D1-3025CE42EF5E}"/>
              </a:ext>
            </a:extLst>
          </p:cNvPr>
          <p:cNvSpPr/>
          <p:nvPr/>
        </p:nvSpPr>
        <p:spPr>
          <a:xfrm>
            <a:off x="1351476" y="1469468"/>
            <a:ext cx="2675637" cy="4416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</a:rPr>
              <a:t>Multi – Industry Scope</a:t>
            </a:r>
            <a:endParaRPr lang="en-IN" sz="1600" dirty="0">
              <a:solidFill>
                <a:schemeClr val="accent6">
                  <a:lumMod val="50000"/>
                </a:schemeClr>
              </a:solidFill>
              <a:latin typeface="Britannic Bold" panose="020B0903060703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055F437-29EF-CB72-6F11-DDEA4CE6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22" y="2328617"/>
            <a:ext cx="256321" cy="2866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F4567CF-816B-FD3E-1869-4A76DB39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85" y="3200732"/>
            <a:ext cx="294088" cy="2902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4A87CC1-F83E-D587-4F13-A2356BDBC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90" y="3973443"/>
            <a:ext cx="294089" cy="2901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9A156FF-1EB2-79C8-FC04-CFE1BDB2E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72" y="4696362"/>
            <a:ext cx="342430" cy="32891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40A040-BECB-287C-D816-6493E26EE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70" y="5553445"/>
            <a:ext cx="344034" cy="330454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97549CC-E118-8D56-40CB-8F5FCD66CAC4}"/>
              </a:ext>
            </a:extLst>
          </p:cNvPr>
          <p:cNvSpPr/>
          <p:nvPr/>
        </p:nvSpPr>
        <p:spPr>
          <a:xfrm>
            <a:off x="6246530" y="4826662"/>
            <a:ext cx="5593045" cy="5570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B58CE0-9F6D-86A9-BE3E-D1A0A160EE5F}"/>
              </a:ext>
            </a:extLst>
          </p:cNvPr>
          <p:cNvSpPr txBox="1"/>
          <p:nvPr/>
        </p:nvSpPr>
        <p:spPr>
          <a:xfrm>
            <a:off x="6446422" y="4890818"/>
            <a:ext cx="5393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94.3%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of </a:t>
            </a:r>
            <a:r>
              <a:rPr lang="en-IN" sz="1400" u="sng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Indians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aged 15–29 used the internet in 2025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, indicating </a:t>
            </a:r>
            <a:r>
              <a:rPr lang="en-IN" sz="1400" i="1" u="sng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strong digital accessibility for Dharohar’s primary target audience.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667C670-9B88-F256-A2B7-4496A5FE7DD0}"/>
              </a:ext>
            </a:extLst>
          </p:cNvPr>
          <p:cNvSpPr/>
          <p:nvPr/>
        </p:nvSpPr>
        <p:spPr>
          <a:xfrm>
            <a:off x="6246530" y="5466606"/>
            <a:ext cx="5593045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3D0AC5-391B-3EBD-853F-D6E258349605}"/>
              </a:ext>
            </a:extLst>
          </p:cNvPr>
          <p:cNvSpPr txBox="1"/>
          <p:nvPr/>
        </p:nvSpPr>
        <p:spPr>
          <a:xfrm>
            <a:off x="937968" y="2139236"/>
            <a:ext cx="6378662" cy="4266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33" b="1" dirty="0">
                <a:solidFill>
                  <a:schemeClr val="accent3">
                    <a:lumMod val="50000"/>
                  </a:schemeClr>
                </a:solidFill>
                <a:latin typeface="Bell MT" panose="02020503060305020303" pitchFamily="18" charset="0"/>
              </a:rPr>
              <a:t> EDUCATION </a:t>
            </a:r>
          </a:p>
          <a:p>
            <a:pPr lvl="0"/>
            <a:r>
              <a:rPr lang="en-IN" sz="1333" b="1" dirty="0">
                <a:latin typeface="Bell MT" panose="02020503060305020303" pitchFamily="18" charset="0"/>
              </a:rPr>
              <a:t>Students:</a:t>
            </a:r>
            <a:r>
              <a:rPr lang="en-IN" sz="1333" dirty="0">
                <a:latin typeface="Bell MT" panose="02020503060305020303" pitchFamily="18" charset="0"/>
              </a:rPr>
              <a:t> Learn history through interactive gameplay. </a:t>
            </a:r>
          </a:p>
          <a:p>
            <a:pPr lvl="0"/>
            <a:r>
              <a:rPr lang="en-IN" sz="1333" b="1" dirty="0">
                <a:latin typeface="Bell MT" panose="02020503060305020303" pitchFamily="18" charset="0"/>
              </a:rPr>
              <a:t>Teachers:</a:t>
            </a:r>
            <a:r>
              <a:rPr lang="en-IN" sz="1333" dirty="0">
                <a:latin typeface="Bell MT" panose="02020503060305020303" pitchFamily="18" charset="0"/>
              </a:rPr>
              <a:t> Use gamified content for engaging lessons. </a:t>
            </a:r>
          </a:p>
          <a:p>
            <a:pPr lvl="0"/>
            <a:endParaRPr lang="en-IN" sz="1333" dirty="0">
              <a:latin typeface="Bell MT" panose="02020503060305020303" pitchFamily="18" charset="0"/>
            </a:endParaRPr>
          </a:p>
          <a:p>
            <a:r>
              <a:rPr lang="en-IN" sz="1333" b="1" dirty="0">
                <a:solidFill>
                  <a:schemeClr val="accent6">
                    <a:lumMod val="75000"/>
                  </a:schemeClr>
                </a:solidFill>
                <a:latin typeface="Bell MT" panose="02020503060305020303" pitchFamily="18" charset="0"/>
              </a:rPr>
              <a:t>TOURISM &amp; HERITAGE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Virtual exploration of historical places. 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Gamified heritage tours and cultural discovery. </a:t>
            </a:r>
          </a:p>
          <a:p>
            <a:pPr lvl="0"/>
            <a:endParaRPr lang="en-IN" sz="1333" dirty="0">
              <a:latin typeface="Bell MT" panose="02020503060305020303" pitchFamily="18" charset="0"/>
            </a:endParaRPr>
          </a:p>
          <a:p>
            <a:r>
              <a:rPr lang="en-IN" sz="1333" b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 SOCIAL IMPACT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Promotes cultural awareness and heritage preservation. 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Makes history accessible to diverse audiences. </a:t>
            </a:r>
          </a:p>
          <a:p>
            <a:pPr lvl="0"/>
            <a:endParaRPr lang="en-IN" sz="1333" dirty="0">
              <a:latin typeface="Bell MT" panose="02020503060305020303" pitchFamily="18" charset="0"/>
            </a:endParaRPr>
          </a:p>
          <a:p>
            <a:r>
              <a:rPr lang="en-IN" sz="1333" b="1" dirty="0">
                <a:latin typeface="Bell MT" panose="02020503060305020303" pitchFamily="18" charset="0"/>
              </a:rPr>
              <a:t> </a:t>
            </a:r>
            <a:r>
              <a:rPr lang="en-IN" sz="1333" b="1" dirty="0">
                <a:solidFill>
                  <a:schemeClr val="tx2">
                    <a:lumMod val="75000"/>
                  </a:schemeClr>
                </a:solidFill>
                <a:latin typeface="Bell MT" panose="02020503060305020303" pitchFamily="18" charset="0"/>
              </a:rPr>
              <a:t>ECONOMIC IMPACT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Opportunities for local artists, creators and developers. 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Supports heritage-based digital experiences and tourism.</a:t>
            </a:r>
          </a:p>
          <a:p>
            <a:pPr lvl="0"/>
            <a:r>
              <a:rPr lang="en-IN" sz="1333" dirty="0">
                <a:latin typeface="Bell MT" panose="02020503060305020303" pitchFamily="18" charset="0"/>
              </a:rPr>
              <a:t> </a:t>
            </a:r>
          </a:p>
          <a:p>
            <a:r>
              <a:rPr lang="en-IN" sz="1333" b="1" dirty="0">
                <a:latin typeface="Bell MT" panose="02020503060305020303" pitchFamily="18" charset="0"/>
              </a:rPr>
              <a:t> </a:t>
            </a:r>
            <a:r>
              <a:rPr lang="en-IN" sz="1333" b="1" dirty="0">
                <a:solidFill>
                  <a:schemeClr val="accent3">
                    <a:lumMod val="75000"/>
                  </a:schemeClr>
                </a:solidFill>
                <a:latin typeface="Bell MT" panose="02020503060305020303" pitchFamily="18" charset="0"/>
              </a:rPr>
              <a:t>ENVIRONMENTAL IMPACT</a:t>
            </a:r>
          </a:p>
          <a:p>
            <a:pPr lvl="0"/>
            <a:r>
              <a:rPr lang="en-IN" sz="1333" b="1" dirty="0">
                <a:latin typeface="Bell MT" panose="02020503060305020303" pitchFamily="18" charset="0"/>
              </a:rPr>
              <a:t>SDG 4 – Quality Education</a:t>
            </a:r>
            <a:br>
              <a:rPr lang="en-IN" sz="1333" b="1" dirty="0">
                <a:latin typeface="Bell MT" panose="02020503060305020303" pitchFamily="18" charset="0"/>
              </a:rPr>
            </a:br>
            <a:r>
              <a:rPr lang="en-IN" sz="1333" b="1" dirty="0">
                <a:latin typeface="Bell MT" panose="02020503060305020303" pitchFamily="18" charset="0"/>
              </a:rPr>
              <a:t>SDG 11- Sustainable Cities and Communities</a:t>
            </a:r>
          </a:p>
          <a:p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73E2E7-9421-A1E0-CA65-A15F4FB4E5C0}"/>
              </a:ext>
            </a:extLst>
          </p:cNvPr>
          <p:cNvSpPr/>
          <p:nvPr/>
        </p:nvSpPr>
        <p:spPr>
          <a:xfrm>
            <a:off x="6639759" y="1107659"/>
            <a:ext cx="4805180" cy="309813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odoni MT" panose="02070603080606020203" pitchFamily="18" charset="0"/>
              </a:rPr>
              <a:t>POTENTIAL IMPACT ON TARGET USERS</a:t>
            </a:r>
            <a:endParaRPr lang="en-IN" b="1" dirty="0">
              <a:latin typeface="Bodoni MT" panose="020706030806060202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7EB92-6854-DDC8-38A1-58FC67B16FA3}"/>
              </a:ext>
            </a:extLst>
          </p:cNvPr>
          <p:cNvSpPr txBox="1"/>
          <p:nvPr/>
        </p:nvSpPr>
        <p:spPr>
          <a:xfrm>
            <a:off x="6393398" y="5476501"/>
            <a:ext cx="529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India had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969.1 million internet subscribers by March 2025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, highlighting the </a:t>
            </a:r>
            <a:r>
              <a:rPr lang="en-IN" sz="1400" i="1" u="sng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platform’s large potential digital reach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.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5381A15-2CB3-696D-27E0-87F71AE5BC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341B89F-F0E3-D379-570D-DAA2C706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39744F8-0F8A-B320-1266-5FA8833787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946" y="58167"/>
            <a:ext cx="1687854" cy="49596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DFFBD2-3F09-2E5E-8550-11AF593D5A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7336" y="1743200"/>
            <a:ext cx="3753813" cy="290270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7EDF4E3-54F4-0CC9-E197-7888959FE4AA}"/>
              </a:ext>
            </a:extLst>
          </p:cNvPr>
          <p:cNvSpPr>
            <a:spLocks noGrp="1"/>
          </p:cNvSpPr>
          <p:nvPr/>
        </p:nvSpPr>
        <p:spPr bwMode="auto">
          <a:xfrm>
            <a:off x="621070" y="-10650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76072" y="1256513"/>
            <a:ext cx="11036808" cy="1261872"/>
          </a:xfrm>
          <a:prstGeom prst="roundRect">
            <a:avLst/>
          </a:prstGeom>
          <a:solidFill>
            <a:srgbClr val="F6F0E5"/>
          </a:solidFill>
          <a:ln w="13970">
            <a:solidFill>
              <a:srgbClr val="DED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08115"/>
            <a:ext cx="10469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2D3D"/>
                </a:solidFill>
                <a:latin typeface="Aptos Display"/>
              </a:defRPr>
            </a:pPr>
            <a:r>
              <a:rPr dirty="0"/>
              <a:t>NO AI PLATFORM IS USED IN RESEARCH PURPOSES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764" y="1746504"/>
            <a:ext cx="100537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>
                <a:solidFill>
                  <a:srgbClr val="2E3137"/>
                </a:solidFill>
                <a:latin typeface="Aptos"/>
              </a:defRPr>
            </a:pP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Bell MT" panose="02020503060305020303" pitchFamily="18" charset="0"/>
              </a:rPr>
              <a:t>Since we claim to teach students, we provide information from credible and authorized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" y="2761488"/>
            <a:ext cx="3419856" cy="3493008"/>
          </a:xfrm>
          <a:prstGeom prst="roundRect">
            <a:avLst/>
          </a:prstGeom>
          <a:solidFill>
            <a:srgbClr val="E1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697480"/>
            <a:ext cx="3419856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94496" y="2794065"/>
            <a:ext cx="347472" cy="347472"/>
          </a:xfrm>
          <a:prstGeom prst="ellipse">
            <a:avLst/>
          </a:prstGeom>
          <a:solidFill>
            <a:srgbClr val="4C3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2260" y="2860404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C3C5B"/>
                </a:solidFill>
                <a:latin typeface="Aptos"/>
              </a:defRPr>
            </a:pPr>
            <a:r>
              <a:t>WIKIPEDIA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143" y="3137647"/>
            <a:ext cx="2442703" cy="1635521"/>
          </a:xfrm>
          <a:prstGeom prst="roundRect">
            <a:avLst/>
          </a:prstGeom>
          <a:solidFill>
            <a:srgbClr val="FCFCFB"/>
          </a:solidFill>
          <a:ln w="889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ource_logo_0.png"/>
          <p:cNvPicPr>
            <a:picLocks noChangeAspect="1"/>
          </p:cNvPicPr>
          <p:nvPr/>
        </p:nvPicPr>
        <p:blipFill>
          <a:blip r:embed="rId2"/>
          <a:srcRect l="21832" t="11299" r="14775" b="5246"/>
          <a:stretch>
            <a:fillRect/>
          </a:stretch>
        </p:blipFill>
        <p:spPr>
          <a:xfrm>
            <a:off x="1347216" y="3209697"/>
            <a:ext cx="1969815" cy="14378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8" y="4773168"/>
            <a:ext cx="296265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0" b="1">
                <a:solidFill>
                  <a:srgbClr val="2E3137"/>
                </a:solidFill>
                <a:latin typeface="Georgia"/>
              </a:defRPr>
            </a:pPr>
            <a:r>
              <a:t>ARTICLE — Nalanda</a:t>
            </a:r>
            <a:br/>
            <a:r>
              <a:t>Mahavihara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9412" y="2761488"/>
            <a:ext cx="3419856" cy="3493008"/>
          </a:xfrm>
          <a:prstGeom prst="roundRect">
            <a:avLst/>
          </a:prstGeom>
          <a:solidFill>
            <a:srgbClr val="E1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2697480"/>
            <a:ext cx="3419856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720" y="2865577"/>
            <a:ext cx="347472" cy="347472"/>
          </a:xfrm>
          <a:prstGeom prst="ellipse">
            <a:avLst/>
          </a:prstGeom>
          <a:solidFill>
            <a:srgbClr val="53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5484" y="2865577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37E77"/>
                </a:solidFill>
                <a:latin typeface="Aptos"/>
              </a:defRPr>
            </a:pPr>
            <a:r>
              <a:rPr dirty="0"/>
              <a:t>UNESCO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4128" y="3304171"/>
            <a:ext cx="2389632" cy="1331837"/>
          </a:xfrm>
          <a:prstGeom prst="roundRect">
            <a:avLst/>
          </a:prstGeom>
          <a:solidFill>
            <a:srgbClr val="FCFCFB"/>
          </a:solidFill>
          <a:ln w="889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ource_logo_1.png"/>
          <p:cNvPicPr>
            <a:picLocks noChangeAspect="1"/>
          </p:cNvPicPr>
          <p:nvPr/>
        </p:nvPicPr>
        <p:blipFill>
          <a:blip r:embed="rId3"/>
          <a:srcRect l="9799" t="14165" r="19826" b="12640"/>
          <a:stretch>
            <a:fillRect/>
          </a:stretch>
        </p:blipFill>
        <p:spPr>
          <a:xfrm>
            <a:off x="5015484" y="3359432"/>
            <a:ext cx="2066634" cy="119177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7720" y="4773168"/>
            <a:ext cx="296265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0" b="1">
                <a:solidFill>
                  <a:srgbClr val="2E3137"/>
                </a:solidFill>
                <a:latin typeface="Georgia"/>
              </a:defRPr>
            </a:pPr>
            <a:r>
              <a:t>ARTICLE — Archaeological</a:t>
            </a:r>
            <a:br/>
            <a:r>
              <a:t>Site of Nalanda Mahavihara</a:t>
            </a:r>
            <a:br/>
            <a:r>
              <a:t>at Nalanda, Bihar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1604" y="2761488"/>
            <a:ext cx="3419856" cy="3493008"/>
          </a:xfrm>
          <a:prstGeom prst="roundRect">
            <a:avLst/>
          </a:prstGeom>
          <a:solidFill>
            <a:srgbClr val="E1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11312" y="2697480"/>
            <a:ext cx="3419856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12480" y="2868929"/>
            <a:ext cx="347472" cy="347472"/>
          </a:xfrm>
          <a:prstGeom prst="ellipse">
            <a:avLst/>
          </a:prstGeom>
          <a:solidFill>
            <a:srgbClr val="27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1420" y="2902153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72D3D"/>
                </a:solidFill>
                <a:latin typeface="Aptos"/>
              </a:defRPr>
            </a:pPr>
            <a:r>
              <a:rPr dirty="0"/>
              <a:t>BBC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77835" y="3395496"/>
            <a:ext cx="2368117" cy="1240512"/>
          </a:xfrm>
          <a:prstGeom prst="roundRect">
            <a:avLst/>
          </a:prstGeom>
          <a:solidFill>
            <a:srgbClr val="FCFCFB"/>
          </a:solidFill>
          <a:ln w="8890">
            <a:solidFill>
              <a:srgbClr val="E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source_logo_2.png"/>
          <p:cNvPicPr>
            <a:picLocks noChangeAspect="1"/>
          </p:cNvPicPr>
          <p:nvPr/>
        </p:nvPicPr>
        <p:blipFill>
          <a:blip r:embed="rId4"/>
          <a:srcRect t="30727" r="17336" b="32971"/>
          <a:stretch>
            <a:fillRect/>
          </a:stretch>
        </p:blipFill>
        <p:spPr>
          <a:xfrm>
            <a:off x="8853834" y="3668702"/>
            <a:ext cx="2134811" cy="5197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39912" y="4773168"/>
            <a:ext cx="296265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0" b="1">
                <a:solidFill>
                  <a:srgbClr val="2E3137"/>
                </a:solidFill>
                <a:latin typeface="Georgia"/>
              </a:defRPr>
            </a:pPr>
            <a:r>
              <a:t>ARTICLE — Nalanda: The</a:t>
            </a:r>
            <a:br/>
            <a:r>
              <a:t>university that changed the</a:t>
            </a:r>
            <a:br/>
            <a:r>
              <a:t>world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4C7291-524E-005F-1ACC-C78C6A4D9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BD8FF1-2C2C-6A66-4852-85864EE038A7}"/>
              </a:ext>
            </a:extLst>
          </p:cNvPr>
          <p:cNvSpPr txBox="1"/>
          <p:nvPr/>
        </p:nvSpPr>
        <p:spPr>
          <a:xfrm>
            <a:off x="652966" y="5267158"/>
            <a:ext cx="3169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hlinkClick r:id="rId5"/>
              </a:rPr>
              <a:t>https://en.wikipedia.org/wiki/Nalanda_mahavihara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0E2D77-2537-443F-9290-6098DE4BEE0C}"/>
              </a:ext>
            </a:extLst>
          </p:cNvPr>
          <p:cNvSpPr txBox="1"/>
          <p:nvPr/>
        </p:nvSpPr>
        <p:spPr>
          <a:xfrm>
            <a:off x="4834128" y="5417393"/>
            <a:ext cx="2593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hlinkClick r:id="rId6"/>
              </a:rPr>
              <a:t>https://whc.unesco.org/en/list/1502/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776227-C00A-FF79-5A7C-0A11E60480A9}"/>
              </a:ext>
            </a:extLst>
          </p:cNvPr>
          <p:cNvSpPr txBox="1"/>
          <p:nvPr/>
        </p:nvSpPr>
        <p:spPr>
          <a:xfrm>
            <a:off x="8412480" y="5077361"/>
            <a:ext cx="3304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1600" dirty="0"/>
          </a:p>
          <a:p>
            <a:pPr algn="ctr"/>
            <a:r>
              <a:rPr lang="en-IN" sz="1600" dirty="0">
                <a:hlinkClick r:id="rId7"/>
              </a:rPr>
              <a:t>https://www.bbc.com/travel/article/20230222-nalanda-the-university-that-changed-the-world</a:t>
            </a:r>
            <a:endParaRPr lang="en-IN" sz="1600" dirty="0"/>
          </a:p>
          <a:p>
            <a:pPr algn="ctr"/>
            <a:endParaRPr lang="en-IN" sz="16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F702C59-B35F-4568-6F4D-B11257BF9A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B3529CA-050F-4292-8B10-0C5D481A8D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0946" y="183008"/>
            <a:ext cx="1687854" cy="5210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Prisha_ki_sena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372CE0-34B6-DC5F-1ECC-7CC304377569}"/>
              </a:ext>
            </a:extLst>
          </p:cNvPr>
          <p:cNvSpPr>
            <a:spLocks noGrp="1"/>
          </p:cNvSpPr>
          <p:nvPr/>
        </p:nvSpPr>
        <p:spPr bwMode="auto">
          <a:xfrm>
            <a:off x="617220" y="-98766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8720</TotalTime>
  <Words>773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Aptos</vt:lpstr>
      <vt:lpstr>Arial</vt:lpstr>
      <vt:lpstr>Bell MT</vt:lpstr>
      <vt:lpstr>Bodoni MT</vt:lpstr>
      <vt:lpstr>Britannic Bold</vt:lpstr>
      <vt:lpstr>Calibri</vt:lpstr>
      <vt:lpstr>Castellar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PROPOSED SOLUTION</vt:lpstr>
      <vt:lpstr>TECHNICAL APPROACH</vt:lpstr>
      <vt:lpstr>OUR BUILT MVP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Prisha Saxena</cp:lastModifiedBy>
  <cp:revision>163</cp:revision>
  <dcterms:created xsi:type="dcterms:W3CDTF">2013-12-12T18:46:50Z</dcterms:created>
  <dcterms:modified xsi:type="dcterms:W3CDTF">2026-09-11T09:16:12Z</dcterms:modified>
  <cp:category/>
</cp:coreProperties>
</file>